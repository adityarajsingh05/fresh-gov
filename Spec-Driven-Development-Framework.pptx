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F4101D-29A1-42BA-F004-CFEDBF0217BD}" v="2" dt="2026-08-10T05:08:12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agaraj, Jamuna (Cognizant)" userId="S::455258@cognizant.com::0546da86-9fad-43f3-b9cd-a74446dc8abd" providerId="AD" clId="Web-{2EF4101D-29A1-42BA-F004-CFEDBF0217BD}"/>
    <pc:docChg chg="modSld">
      <pc:chgData name="Kanagaraj, Jamuna (Cognizant)" userId="S::455258@cognizant.com::0546da86-9fad-43f3-b9cd-a74446dc8abd" providerId="AD" clId="Web-{2EF4101D-29A1-42BA-F004-CFEDBF0217BD}" dt="2026-08-10T05:08:12.483" v="1" actId="20577"/>
      <pc:docMkLst>
        <pc:docMk/>
      </pc:docMkLst>
      <pc:sldChg chg="modSp">
        <pc:chgData name="Kanagaraj, Jamuna (Cognizant)" userId="S::455258@cognizant.com::0546da86-9fad-43f3-b9cd-a74446dc8abd" providerId="AD" clId="Web-{2EF4101D-29A1-42BA-F004-CFEDBF0217BD}" dt="2026-08-10T05:08:12.483" v="1" actId="20577"/>
        <pc:sldMkLst>
          <pc:docMk/>
          <pc:sldMk cId="0" sldId="256"/>
        </pc:sldMkLst>
        <pc:spChg chg="mod">
          <ac:chgData name="Kanagaraj, Jamuna (Cognizant)" userId="S::455258@cognizant.com::0546da86-9fad-43f3-b9cd-a74446dc8abd" providerId="AD" clId="Web-{2EF4101D-29A1-42BA-F004-CFEDBF0217BD}" dt="2026-08-10T05:08:12.483" v="1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  <pc:docChgLst>
    <pc:chgData name="Rahman, Mohammed Thufailur (Cognizant)" userId="fdb9f64c-f82a-47b0-9036-b1f176ca5045" providerId="ADAL" clId="{09348C2D-2985-433B-8089-635D345DB530}"/>
    <pc:docChg chg="modSld">
      <pc:chgData name="Rahman, Mohammed Thufailur (Cognizant)" userId="fdb9f64c-f82a-47b0-9036-b1f176ca5045" providerId="ADAL" clId="{09348C2D-2985-433B-8089-635D345DB530}" dt="2026-08-06T11:50:22.228" v="31" actId="20577"/>
      <pc:docMkLst>
        <pc:docMk/>
      </pc:docMkLst>
      <pc:sldChg chg="modSp mod">
        <pc:chgData name="Rahman, Mohammed Thufailur (Cognizant)" userId="fdb9f64c-f82a-47b0-9036-b1f176ca5045" providerId="ADAL" clId="{09348C2D-2985-433B-8089-635D345DB530}" dt="2026-08-06T11:50:22.228" v="31" actId="20577"/>
        <pc:sldMkLst>
          <pc:docMk/>
          <pc:sldMk cId="0" sldId="258"/>
        </pc:sldMkLst>
        <pc:spChg chg="mod">
          <ac:chgData name="Rahman, Mohammed Thufailur (Cognizant)" userId="fdb9f64c-f82a-47b0-9036-b1f176ca5045" providerId="ADAL" clId="{09348C2D-2985-433B-8089-635D345DB530}" dt="2026-08-06T11:50:22.228" v="31" actId="20577"/>
          <ac:spMkLst>
            <pc:docMk/>
            <pc:sldMk cId="0" sldId="258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9030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framework we're going to build together. Today I'll explain what it is, why we're building it, and how it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gap is the business opportunity. We need a faster way to build these features than hand-coding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spec-driven development. The spec is the source of truth; code is generated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spec isn't a document that goes stale — it's the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Most work will be a mix. Green field builds the missing features; brown field improves what's already on Online/IES.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Here the framework has freedom — it designs and builds the whole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Here the challenge is understanding what's already there before we touch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person entering the spec is often a business/domain expert, not a coder. The UI keeps it that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my lead's core idea — we don't bet on one agent; we study the best in the market and build something better-fitted for our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each agent we ask one question: what does it do better than the rest, and can we take that piece?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output is not a wrapper around one tool — it's a new framework assembled from the best parts of many.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a first sketch — we'll refine it as we evaluate the frameworks.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directly serves the business reason behind the whole migration.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roughly how we'll sequence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Naming these upfront so we design for them, not around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Team roles, kick off Phase 1 evaluation, agree on a pilot use case. Then open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241280" y="3566160"/>
            <a:ext cx="3840480" cy="3840480"/>
          </a:xfrm>
          <a:prstGeom prst="ellipse">
            <a:avLst/>
          </a:prstGeom>
          <a:solidFill>
            <a:srgbClr val="1A20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4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SPEC-DRIVEN DEVELOPMENT FRAMEWORK</a:t>
            </a:r>
            <a:endParaRPr lang="en-US" sz="44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8680" y="3520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business requirements into working software — automatically</a:t>
            </a:r>
            <a:endParaRPr lang="en-US" sz="1900"/>
          </a:p>
        </p:txBody>
      </p:sp>
      <p:sp>
        <p:nvSpPr>
          <p:cNvPr id="6" name="Shape 4"/>
          <p:cNvSpPr/>
          <p:nvPr/>
        </p:nvSpPr>
        <p:spPr>
          <a:xfrm>
            <a:off x="868680" y="43434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463040" y="43434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A6B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057400" y="4343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Field  •  Brown Field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8686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briefing  |  Prepared for the framework build team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— Why We're Here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4F7FC"/>
          </a:solidFill>
          <a:ln/>
          <a:effectLst>
            <a:outerShdw blurRad="101600" dist="38100" dir="5400000" algn="bl" rotWithShape="0">
              <a:srgbClr val="9AA3B5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6012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012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80"/>
          </a:p>
        </p:txBody>
      </p:sp>
      <p:sp>
        <p:nvSpPr>
          <p:cNvPr id="8" name="Text 6"/>
          <p:cNvSpPr/>
          <p:nvPr/>
        </p:nvSpPr>
        <p:spPr>
          <a:xfrm>
            <a:off x="1783080" y="19202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QBDT is legacy</a:t>
            </a:r>
            <a:endParaRPr lang="en-US" sz="1900"/>
          </a:p>
        </p:txBody>
      </p:sp>
      <p:sp>
        <p:nvSpPr>
          <p:cNvPr id="9" name="Text 7"/>
          <p:cNvSpPr/>
          <p:nvPr/>
        </p:nvSpPr>
        <p:spPr>
          <a:xfrm>
            <a:off x="1005840" y="265176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 is moving customers from QuickBooks Desktop (QBDT) to QuickBooks Online and IES for better revenue.</a:t>
            </a:r>
            <a:endParaRPr lang="en-US" sz="1450"/>
          </a:p>
        </p:txBody>
      </p:sp>
      <p:sp>
        <p:nvSpPr>
          <p:cNvPr id="10" name="Shape 8"/>
          <p:cNvSpPr/>
          <p:nvPr/>
        </p:nvSpPr>
        <p:spPr>
          <a:xfrm>
            <a:off x="6355080" y="160020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4F7FC"/>
          </a:solidFill>
          <a:ln/>
          <a:effectLst>
            <a:outerShdw blurRad="101600" dist="38100" dir="5400000" algn="bl" rotWithShape="0">
              <a:srgbClr val="9AA3B5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67512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67512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80"/>
          </a:p>
        </p:txBody>
      </p:sp>
      <p:sp>
        <p:nvSpPr>
          <p:cNvPr id="13" name="Text 11"/>
          <p:cNvSpPr/>
          <p:nvPr/>
        </p:nvSpPr>
        <p:spPr>
          <a:xfrm>
            <a:off x="7498080" y="19202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can't be touched</a:t>
            </a:r>
            <a:endParaRPr lang="en-US" sz="1900"/>
          </a:p>
        </p:txBody>
      </p:sp>
      <p:sp>
        <p:nvSpPr>
          <p:cNvPr id="14" name="Text 12"/>
          <p:cNvSpPr/>
          <p:nvPr/>
        </p:nvSpPr>
        <p:spPr>
          <a:xfrm>
            <a:off x="6720840" y="265176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QBDT is decades-old C++ handling money movement — it cannot be modified or risked.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4F7FC"/>
          </a:solidFill>
          <a:ln/>
          <a:effectLst>
            <a:outerShdw blurRad="101600" dist="38100" dir="5400000" algn="bl" rotWithShape="0">
              <a:srgbClr val="9AA3B5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60120" y="4251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6012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80"/>
          </a:p>
        </p:txBody>
      </p:sp>
      <p:sp>
        <p:nvSpPr>
          <p:cNvPr id="18" name="Text 16"/>
          <p:cNvSpPr/>
          <p:nvPr/>
        </p:nvSpPr>
        <p:spPr>
          <a:xfrm>
            <a:off x="1783080" y="4251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gap</a:t>
            </a:r>
            <a:endParaRPr lang="en-US" sz="1900"/>
          </a:p>
        </p:txBody>
      </p:sp>
      <p:sp>
        <p:nvSpPr>
          <p:cNvPr id="19" name="Text 17"/>
          <p:cNvSpPr/>
          <p:nvPr/>
        </p:nvSpPr>
        <p:spPr>
          <a:xfrm>
            <a:off x="1005840" y="49834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&amp; IES don't yet have all the features the desktop app has.</a:t>
            </a:r>
            <a:endParaRPr lang="en-US" sz="1450"/>
          </a:p>
        </p:txBody>
      </p:sp>
      <p:sp>
        <p:nvSpPr>
          <p:cNvPr id="20" name="Shape 18"/>
          <p:cNvSpPr/>
          <p:nvPr/>
        </p:nvSpPr>
        <p:spPr>
          <a:xfrm>
            <a:off x="6355080" y="393192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4F7FC"/>
          </a:solidFill>
          <a:ln/>
          <a:effectLst>
            <a:outerShdw blurRad="101600" dist="38100" dir="5400000" algn="bl" rotWithShape="0">
              <a:srgbClr val="9AA3B5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675120" y="4251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67512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80"/>
          </a:p>
        </p:txBody>
      </p:sp>
      <p:sp>
        <p:nvSpPr>
          <p:cNvPr id="23" name="Text 21"/>
          <p:cNvSpPr/>
          <p:nvPr/>
        </p:nvSpPr>
        <p:spPr>
          <a:xfrm>
            <a:off x="7498080" y="4251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Rebuild, fast</a:t>
            </a:r>
            <a:endParaRPr lang="en-US" sz="1900"/>
          </a:p>
        </p:txBody>
      </p:sp>
      <p:sp>
        <p:nvSpPr>
          <p:cNvPr id="24" name="Text 22"/>
          <p:cNvSpPr/>
          <p:nvPr/>
        </p:nvSpPr>
        <p:spPr>
          <a:xfrm>
            <a:off x="6720840" y="49834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large feature gap must be rebuilt on the new platforms — quickly and reliably.</a:t>
            </a:r>
            <a:endParaRPr lang="en-US" sz="14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685800"/>
          </a:xfrm>
          <a:prstGeom prst="roundRect">
            <a:avLst>
              <a:gd name="adj" fmla="val 16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1508760" y="5029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Idea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2200" b="1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Someone enters a business requirement or spec…</a:t>
            </a:r>
            <a:endParaRPr lang="en-US" sz="2200"/>
          </a:p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…and the entire development happens automatically.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2A337A"/>
          </a:solidFill>
          <a:ln w="254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Spec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3840480" y="420624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2A93B"/>
                </a:solidFill>
              </a:rPr>
              <a:t>→</a:t>
            </a:r>
            <a:endParaRPr lang="en-US" sz="3000"/>
          </a:p>
        </p:txBody>
      </p:sp>
      <p:sp>
        <p:nvSpPr>
          <p:cNvPr id="9" name="Shape 7"/>
          <p:cNvSpPr/>
          <p:nvPr/>
        </p:nvSpPr>
        <p:spPr>
          <a:xfrm>
            <a:off x="4572000" y="420624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2A337A"/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0" y="42062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700"/>
          </a:p>
        </p:txBody>
      </p:sp>
      <p:sp>
        <p:nvSpPr>
          <p:cNvPr id="11" name="Text 9"/>
          <p:cNvSpPr/>
          <p:nvPr/>
        </p:nvSpPr>
        <p:spPr>
          <a:xfrm>
            <a:off x="7498080" y="420624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2A93B"/>
                </a:solidFill>
              </a:rPr>
              <a:t>→</a:t>
            </a:r>
            <a:endParaRPr lang="en-US" sz="3000"/>
          </a:p>
        </p:txBody>
      </p:sp>
      <p:sp>
        <p:nvSpPr>
          <p:cNvPr id="12" name="Shape 10"/>
          <p:cNvSpPr/>
          <p:nvPr/>
        </p:nvSpPr>
        <p:spPr>
          <a:xfrm>
            <a:off x="8229600" y="420624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2A337A"/>
          </a:solidFill>
          <a:ln w="254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0" y="42062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Project</a:t>
            </a:r>
            <a:endParaRPr lang="en-US" sz="1700"/>
          </a:p>
        </p:txBody>
      </p:sp>
      <p:sp>
        <p:nvSpPr>
          <p:cNvPr id="14" name="Text 12"/>
          <p:cNvSpPr/>
          <p:nvPr/>
        </p:nvSpPr>
        <p:spPr>
          <a:xfrm>
            <a:off x="914400" y="5532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= business knowledge.  Output = working software. 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Spec-Driven Development?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4F7FC"/>
          </a:solidFill>
          <a:ln/>
          <a:effectLst>
            <a:outerShdw blurRad="101600" dist="38100" dir="5400000" algn="bl" rotWithShape="0">
              <a:srgbClr val="9AA3B5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5C64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1051560" y="2514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5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read requirements</a:t>
            </a:r>
            <a:endParaRPr lang="en-US" sz="1550"/>
          </a:p>
        </p:txBody>
      </p:sp>
      <p:sp>
        <p:nvSpPr>
          <p:cNvPr id="8" name="Text 6"/>
          <p:cNvSpPr/>
          <p:nvPr/>
        </p:nvSpPr>
        <p:spPr>
          <a:xfrm>
            <a:off x="1051560" y="3154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5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write the code</a:t>
            </a:r>
            <a:endParaRPr lang="en-US" sz="1550"/>
          </a:p>
        </p:txBody>
      </p:sp>
      <p:sp>
        <p:nvSpPr>
          <p:cNvPr id="9" name="Text 7"/>
          <p:cNvSpPr/>
          <p:nvPr/>
        </p:nvSpPr>
        <p:spPr>
          <a:xfrm>
            <a:off x="1051560" y="3794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5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it matches the intent</a:t>
            </a:r>
            <a:endParaRPr lang="en-US" sz="1550"/>
          </a:p>
        </p:txBody>
      </p:sp>
      <p:sp>
        <p:nvSpPr>
          <p:cNvPr id="10" name="Text 8"/>
          <p:cNvSpPr/>
          <p:nvPr/>
        </p:nvSpPr>
        <p:spPr>
          <a:xfrm>
            <a:off x="1051560" y="4434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5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goes stale over time</a:t>
            </a:r>
            <a:endParaRPr lang="en-US" sz="155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9AA3B5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3796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Spec-Driven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6629400" y="2514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is executable</a:t>
            </a:r>
            <a:endParaRPr lang="en-US" sz="1550"/>
          </a:p>
        </p:txBody>
      </p:sp>
      <p:sp>
        <p:nvSpPr>
          <p:cNvPr id="14" name="Text 12"/>
          <p:cNvSpPr/>
          <p:nvPr/>
        </p:nvSpPr>
        <p:spPr>
          <a:xfrm>
            <a:off x="6629400" y="3154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drives code, tests &amp; validation</a:t>
            </a:r>
            <a:endParaRPr lang="en-US" sz="1550"/>
          </a:p>
        </p:txBody>
      </p:sp>
      <p:sp>
        <p:nvSpPr>
          <p:cNvPr id="15" name="Text 13"/>
          <p:cNvSpPr/>
          <p:nvPr/>
        </p:nvSpPr>
        <p:spPr>
          <a:xfrm>
            <a:off x="6629400" y="3794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traces to a requirement</a:t>
            </a:r>
            <a:endParaRPr lang="en-US" sz="1550"/>
          </a:p>
        </p:txBody>
      </p:sp>
      <p:sp>
        <p:nvSpPr>
          <p:cNvPr id="16" name="Text 14"/>
          <p:cNvSpPr/>
          <p:nvPr/>
        </p:nvSpPr>
        <p:spPr>
          <a:xfrm>
            <a:off x="6629400" y="4434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+ consistency + traceability</a:t>
            </a:r>
            <a:endParaRPr lang="en-US" sz="15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Modes: Green Field &amp; Brown Field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3B5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F4F7FC"/>
          </a:solidFill>
          <a:ln w="317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606040" y="1965960"/>
            <a:ext cx="914400" cy="91440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60604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Field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1005840" y="35204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500" b="1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Brand-new development</a:t>
            </a:r>
            <a:endParaRPr lang="en-US" sz="150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50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 project from scratch off a spec</a:t>
            </a:r>
            <a:endParaRPr lang="en-US" sz="1500"/>
          </a:p>
          <a:p>
            <a:pPr marL="0" indent="0" algn="ctr">
              <a:buNone/>
            </a:pPr>
            <a:r>
              <a:rPr lang="en-US" sz="150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has freedom to design architecture</a:t>
            </a:r>
            <a:endParaRPr lang="en-US" sz="1500"/>
          </a:p>
        </p:txBody>
      </p:sp>
      <p:sp>
        <p:nvSpPr>
          <p:cNvPr id="11" name="Shape 9"/>
          <p:cNvSpPr/>
          <p:nvPr/>
        </p:nvSpPr>
        <p:spPr>
          <a:xfrm>
            <a:off x="6172200" y="1645920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3B5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172200" y="1645920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F4F7FC"/>
          </a:solidFill>
          <a:ln w="31750">
            <a:solidFill>
              <a:srgbClr val="9A6B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138160" y="1965960"/>
            <a:ext cx="914400" cy="914400"/>
          </a:xfrm>
          <a:prstGeom prst="ellipse">
            <a:avLst/>
          </a:prstGeom>
          <a:solidFill>
            <a:srgbClr val="9A6B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13816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6172200" y="29718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9A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Brown Field</a:t>
            </a:r>
            <a:endParaRPr lang="en-US" sz="2200"/>
          </a:p>
        </p:txBody>
      </p:sp>
      <p:sp>
        <p:nvSpPr>
          <p:cNvPr id="16" name="Text 14"/>
          <p:cNvSpPr/>
          <p:nvPr/>
        </p:nvSpPr>
        <p:spPr>
          <a:xfrm>
            <a:off x="6537960" y="35204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500" b="1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 to existing code</a:t>
            </a:r>
            <a:endParaRPr lang="en-US" sz="150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50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modify features on a live codebase</a:t>
            </a:r>
            <a:endParaRPr lang="en-US" sz="1500"/>
          </a:p>
          <a:p>
            <a:pPr marL="0" indent="0" algn="ctr">
              <a:buNone/>
            </a:pPr>
            <a:r>
              <a:rPr lang="en-US" sz="150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Respects existing patterns; safety first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5C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framework, two entry points — because Intuit's migration needs both.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Field Flow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3A99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CDEB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spec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2606040" y="237744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E7D5B"/>
                </a:solidFill>
              </a:rPr>
              <a:t>→</a:t>
            </a:r>
            <a:endParaRPr lang="en-US" sz="2200"/>
          </a:p>
        </p:txBody>
      </p:sp>
      <p:sp>
        <p:nvSpPr>
          <p:cNvPr id="9" name="Shape 7"/>
          <p:cNvSpPr/>
          <p:nvPr/>
        </p:nvSpPr>
        <p:spPr>
          <a:xfrm>
            <a:off x="2926080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92608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CDEB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3017520" y="28803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50"/>
          </a:p>
        </p:txBody>
      </p:sp>
      <p:sp>
        <p:nvSpPr>
          <p:cNvPr id="12" name="Text 10"/>
          <p:cNvSpPr/>
          <p:nvPr/>
        </p:nvSpPr>
        <p:spPr>
          <a:xfrm>
            <a:off x="4892040" y="237744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E7D5B"/>
                </a:solidFill>
              </a:rPr>
              <a:t>→</a:t>
            </a:r>
            <a:endParaRPr lang="en-US" sz="2200"/>
          </a:p>
        </p:txBody>
      </p:sp>
      <p:sp>
        <p:nvSpPr>
          <p:cNvPr id="13" name="Shape 11"/>
          <p:cNvSpPr/>
          <p:nvPr/>
        </p:nvSpPr>
        <p:spPr>
          <a:xfrm>
            <a:off x="5212080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3A99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21208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CDEB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5303520" y="28803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project</a:t>
            </a:r>
            <a:endParaRPr lang="en-US" sz="1350"/>
          </a:p>
        </p:txBody>
      </p:sp>
      <p:sp>
        <p:nvSpPr>
          <p:cNvPr id="16" name="Text 14"/>
          <p:cNvSpPr/>
          <p:nvPr/>
        </p:nvSpPr>
        <p:spPr>
          <a:xfrm>
            <a:off x="7178040" y="237744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E7D5B"/>
                </a:solidFill>
              </a:rPr>
              <a:t>→</a:t>
            </a:r>
            <a:endParaRPr lang="en-US" sz="2200"/>
          </a:p>
        </p:txBody>
      </p:sp>
      <p:sp>
        <p:nvSpPr>
          <p:cNvPr id="17" name="Shape 15"/>
          <p:cNvSpPr/>
          <p:nvPr/>
        </p:nvSpPr>
        <p:spPr>
          <a:xfrm>
            <a:off x="7498080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49808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CDEB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7589520" y="28803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code + tests</a:t>
            </a:r>
            <a:endParaRPr lang="en-US" sz="1350"/>
          </a:p>
        </p:txBody>
      </p:sp>
      <p:sp>
        <p:nvSpPr>
          <p:cNvPr id="20" name="Text 18"/>
          <p:cNvSpPr/>
          <p:nvPr/>
        </p:nvSpPr>
        <p:spPr>
          <a:xfrm>
            <a:off x="9464040" y="237744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E7D5B"/>
                </a:solidFill>
              </a:rPr>
              <a:t>→</a:t>
            </a:r>
            <a:endParaRPr lang="en-US" sz="2200"/>
          </a:p>
        </p:txBody>
      </p:sp>
      <p:sp>
        <p:nvSpPr>
          <p:cNvPr id="21" name="Shape 19"/>
          <p:cNvSpPr/>
          <p:nvPr/>
        </p:nvSpPr>
        <p:spPr>
          <a:xfrm>
            <a:off x="9784080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3A99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78408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CDEB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9875520" y="28803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50"/>
          </a:p>
        </p:txBody>
      </p:sp>
      <p:sp>
        <p:nvSpPr>
          <p:cNvPr id="24" name="Shape 22"/>
          <p:cNvSpPr/>
          <p:nvPr/>
        </p:nvSpPr>
        <p:spPr>
          <a:xfrm>
            <a:off x="640080" y="4297680"/>
            <a:ext cx="10927080" cy="155448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/>
          <a:effectLst>
            <a:outerShdw blurRad="101600" dist="38100" dir="5400000" algn="bl" rotWithShape="0">
              <a:srgbClr val="9AA3B5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05840" y="452628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Emphasis:  </a:t>
            </a:r>
            <a:r>
              <a:rPr lang="en-US" sz="160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decisions, full project structure, no existing constraints. The framework has freedom to design and build the whole thing.</a:t>
            </a:r>
            <a:endParaRPr 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9A6B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9A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Brown Field Flow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B080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EBD9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enhancement</a:t>
            </a:r>
            <a:endParaRPr lang="en-US" sz="1250"/>
          </a:p>
        </p:txBody>
      </p:sp>
      <p:sp>
        <p:nvSpPr>
          <p:cNvPr id="8" name="Text 6"/>
          <p:cNvSpPr/>
          <p:nvPr/>
        </p:nvSpPr>
        <p:spPr>
          <a:xfrm>
            <a:off x="2606040" y="237744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9A6B4F"/>
                </a:solidFill>
              </a:rPr>
              <a:t>→</a:t>
            </a:r>
            <a:endParaRPr lang="en-US" sz="2200"/>
          </a:p>
        </p:txBody>
      </p:sp>
      <p:sp>
        <p:nvSpPr>
          <p:cNvPr id="9" name="Shape 7"/>
          <p:cNvSpPr/>
          <p:nvPr/>
        </p:nvSpPr>
        <p:spPr>
          <a:xfrm>
            <a:off x="2926080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9A6B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92608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EBD9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3017520" y="28346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existing codebase</a:t>
            </a:r>
            <a:endParaRPr lang="en-US" sz="1250"/>
          </a:p>
        </p:txBody>
      </p:sp>
      <p:sp>
        <p:nvSpPr>
          <p:cNvPr id="12" name="Text 10"/>
          <p:cNvSpPr/>
          <p:nvPr/>
        </p:nvSpPr>
        <p:spPr>
          <a:xfrm>
            <a:off x="4892040" y="237744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9A6B4F"/>
                </a:solidFill>
              </a:rPr>
              <a:t>→</a:t>
            </a:r>
            <a:endParaRPr lang="en-US" sz="2200"/>
          </a:p>
        </p:txBody>
      </p:sp>
      <p:sp>
        <p:nvSpPr>
          <p:cNvPr id="13" name="Shape 11"/>
          <p:cNvSpPr/>
          <p:nvPr/>
        </p:nvSpPr>
        <p:spPr>
          <a:xfrm>
            <a:off x="5212080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B080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21208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EBD9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5303520" y="28346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context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7178040" y="237744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9A6B4F"/>
                </a:solidFill>
              </a:rPr>
              <a:t>→</a:t>
            </a:r>
            <a:endParaRPr lang="en-US" sz="2200"/>
          </a:p>
        </p:txBody>
      </p:sp>
      <p:sp>
        <p:nvSpPr>
          <p:cNvPr id="17" name="Shape 15"/>
          <p:cNvSpPr/>
          <p:nvPr/>
        </p:nvSpPr>
        <p:spPr>
          <a:xfrm>
            <a:off x="7498080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9A6B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49808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EBD9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7589520" y="28346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targeted changes</a:t>
            </a:r>
            <a:endParaRPr lang="en-US" sz="1250"/>
          </a:p>
        </p:txBody>
      </p:sp>
      <p:sp>
        <p:nvSpPr>
          <p:cNvPr id="20" name="Text 18"/>
          <p:cNvSpPr/>
          <p:nvPr/>
        </p:nvSpPr>
        <p:spPr>
          <a:xfrm>
            <a:off x="9464040" y="237744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9A6B4F"/>
                </a:solidFill>
              </a:rPr>
              <a:t>→</a:t>
            </a:r>
            <a:endParaRPr lang="en-US" sz="2200"/>
          </a:p>
        </p:txBody>
      </p:sp>
      <p:sp>
        <p:nvSpPr>
          <p:cNvPr id="21" name="Shape 19"/>
          <p:cNvSpPr/>
          <p:nvPr/>
        </p:nvSpPr>
        <p:spPr>
          <a:xfrm>
            <a:off x="9784080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B080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78408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EBD9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9875520" y="28346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 / no regressions</a:t>
            </a:r>
            <a:endParaRPr lang="en-US" sz="1250"/>
          </a:p>
        </p:txBody>
      </p:sp>
      <p:sp>
        <p:nvSpPr>
          <p:cNvPr id="24" name="Shape 22"/>
          <p:cNvSpPr/>
          <p:nvPr/>
        </p:nvSpPr>
        <p:spPr>
          <a:xfrm>
            <a:off x="640080" y="4297680"/>
            <a:ext cx="10927080" cy="155448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/>
          <a:effectLst>
            <a:outerShdw blurRad="101600" dist="38100" dir="5400000" algn="bl" rotWithShape="0">
              <a:srgbClr val="9AA3B5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05840" y="452628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9A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Emphasis:  </a:t>
            </a:r>
            <a:r>
              <a:rPr lang="en-US" sz="160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and regression testing. The challenge is understanding what's already there before we touch it — respecting existing patterns.</a:t>
            </a:r>
            <a:endParaRPr 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User Interface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64008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3B5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640080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5156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 Request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1097280" y="251460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Green Field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3886200" y="251460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E3E7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886200" y="2514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5C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Brown Field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1097280" y="3383280"/>
            <a:ext cx="5440680" cy="1554480"/>
          </a:xfrm>
          <a:prstGeom prst="roundRect">
            <a:avLst>
              <a:gd name="adj" fmla="val 3529"/>
            </a:avLst>
          </a:prstGeom>
          <a:solidFill>
            <a:srgbClr val="F4F7FC"/>
          </a:solidFill>
          <a:ln w="12700">
            <a:solidFill>
              <a:srgbClr val="C7CE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280160" y="35204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5C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spec / business requirement…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4709160" y="5120640"/>
            <a:ext cx="1828800" cy="594360"/>
          </a:xfrm>
          <a:prstGeom prst="roundRect">
            <a:avLst>
              <a:gd name="adj" fmla="val 15385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09160" y="5120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→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758952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5895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40"/>
          </a:p>
        </p:txBody>
      </p:sp>
      <p:sp>
        <p:nvSpPr>
          <p:cNvPr id="18" name="Text 16"/>
          <p:cNvSpPr/>
          <p:nvPr/>
        </p:nvSpPr>
        <p:spPr>
          <a:xfrm>
            <a:off x="827532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by design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8275320" y="22402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 field + a Green/Brown selector.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7589520" y="3246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5895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40"/>
          </a:p>
        </p:txBody>
      </p:sp>
      <p:sp>
        <p:nvSpPr>
          <p:cNvPr id="22" name="Text 20"/>
          <p:cNvSpPr/>
          <p:nvPr/>
        </p:nvSpPr>
        <p:spPr>
          <a:xfrm>
            <a:off x="827532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domain experts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8275320" y="36576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entering the spec is often a business expert, not a coder.</a:t>
            </a:r>
            <a:endParaRPr lang="en-US" sz="1300"/>
          </a:p>
        </p:txBody>
      </p:sp>
      <p:sp>
        <p:nvSpPr>
          <p:cNvPr id="24" name="Shape 22"/>
          <p:cNvSpPr/>
          <p:nvPr/>
        </p:nvSpPr>
        <p:spPr>
          <a:xfrm>
            <a:off x="7589520" y="4663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589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40"/>
          </a:p>
        </p:txBody>
      </p:sp>
      <p:sp>
        <p:nvSpPr>
          <p:cNvPr id="26" name="Text 24"/>
          <p:cNvSpPr/>
          <p:nvPr/>
        </p:nvSpPr>
        <p:spPr>
          <a:xfrm>
            <a:off x="8275320" y="4617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progress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8275320" y="5074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→ development runs → user sees progress and output.</a:t>
            </a:r>
            <a:endParaRPr lang="en-US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7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685800"/>
          </a:xfrm>
          <a:prstGeom prst="roundRect">
            <a:avLst>
              <a:gd name="adj" fmla="val 16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1508760" y="5029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Approach: Learn From What's In the Market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already has powerful AI coding agents — each strong at something.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914400" y="2651760"/>
            <a:ext cx="3291840" cy="2468880"/>
          </a:xfrm>
          <a:prstGeom prst="roundRect">
            <a:avLst>
              <a:gd name="adj" fmla="val 4444"/>
            </a:avLst>
          </a:prstGeom>
          <a:solidFill>
            <a:srgbClr val="1C2350"/>
          </a:solidFill>
          <a:ln w="190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194560" y="297180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194560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2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2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1188720" y="4114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leading AI agents available in the market.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4572000" y="2651760"/>
            <a:ext cx="3291840" cy="2468880"/>
          </a:xfrm>
          <a:prstGeom prst="roundRect">
            <a:avLst>
              <a:gd name="adj" fmla="val 4444"/>
            </a:avLst>
          </a:prstGeom>
          <a:solidFill>
            <a:srgbClr val="1C2350"/>
          </a:solidFill>
          <a:ln w="190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852160" y="297180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852160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2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2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4846320" y="4114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best capability from each — leave the weaknesses.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8229600" y="2651760"/>
            <a:ext cx="3291840" cy="2468880"/>
          </a:xfrm>
          <a:prstGeom prst="roundRect">
            <a:avLst>
              <a:gd name="adj" fmla="val 4444"/>
            </a:avLst>
          </a:prstGeom>
          <a:solidFill>
            <a:srgbClr val="1C2350"/>
          </a:solidFill>
          <a:ln w="190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509760" y="297180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509760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2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20"/>
          </a:p>
        </p:txBody>
      </p:sp>
      <p:sp>
        <p:nvSpPr>
          <p:cNvPr id="19" name="Text 17"/>
          <p:cNvSpPr/>
          <p:nvPr/>
        </p:nvSpPr>
        <p:spPr>
          <a:xfrm>
            <a:off x="8229600" y="3611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Fuse</a:t>
            </a:r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8503920" y="4114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them into one new framework built for green + brown field.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914400" y="5623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Philosophy: don't reinvent — compose. Take proven strengths and build something better-fitted for our problem.</a:t>
            </a:r>
            <a:endParaRPr 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We'll Analyze — and What to Borrow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4F7FC"/>
          </a:solidFill>
          <a:ln/>
          <a:effectLst>
            <a:outerShdw blurRad="101600" dist="38100" dir="5400000" algn="bl" rotWithShape="0">
              <a:srgbClr val="9AA3B5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146304" cy="1325880"/>
          </a:xfrm>
          <a:prstGeom prst="roundRect">
            <a:avLst>
              <a:gd name="adj" fmla="val 31250"/>
            </a:avLst>
          </a:prstGeom>
          <a:solidFill>
            <a:srgbClr val="9A6B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234440" y="19019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/ Cursor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1234440" y="2377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existing codebases &amp; generates changes</a:t>
            </a:r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123444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9A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Great for Brown Field</a:t>
            </a:r>
            <a:endParaRPr lang="en-US" sz="1350"/>
          </a:p>
        </p:txBody>
      </p:sp>
      <p:sp>
        <p:nvSpPr>
          <p:cNvPr id="10" name="Shape 8"/>
          <p:cNvSpPr/>
          <p:nvPr/>
        </p:nvSpPr>
        <p:spPr>
          <a:xfrm>
            <a:off x="6355080" y="164592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4F7FC"/>
          </a:solidFill>
          <a:ln/>
          <a:effectLst>
            <a:outerShdw blurRad="101600" dist="38100" dir="5400000" algn="bl" rotWithShape="0">
              <a:srgbClr val="9AA3B5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629400" y="1920240"/>
            <a:ext cx="146304" cy="1325880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949440" y="19019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/ Codex-style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6949440" y="2377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inline code generation</a:t>
            </a:r>
            <a:endParaRPr lang="en-US" sz="1350"/>
          </a:p>
        </p:txBody>
      </p:sp>
      <p:sp>
        <p:nvSpPr>
          <p:cNvPr id="14" name="Text 12"/>
          <p:cNvSpPr/>
          <p:nvPr/>
        </p:nvSpPr>
        <p:spPr>
          <a:xfrm>
            <a:off x="694944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Useful for scaffolding</a:t>
            </a:r>
            <a:endParaRPr lang="en-US" sz="135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4F7FC"/>
          </a:solidFill>
          <a:ln/>
          <a:effectLst>
            <a:outerShdw blurRad="101600" dist="38100" dir="5400000" algn="bl" rotWithShape="0">
              <a:srgbClr val="9AA3B5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14400" y="4069080"/>
            <a:ext cx="146304" cy="1325880"/>
          </a:xfrm>
          <a:prstGeom prst="roundRect">
            <a:avLst>
              <a:gd name="adj" fmla="val 3125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234440" y="4050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Spec-kit / spec tools</a:t>
            </a:r>
            <a:endParaRPr lang="en-US" sz="1700"/>
          </a:p>
        </p:txBody>
      </p:sp>
      <p:sp>
        <p:nvSpPr>
          <p:cNvPr id="18" name="Text 16"/>
          <p:cNvSpPr/>
          <p:nvPr/>
        </p:nvSpPr>
        <p:spPr>
          <a:xfrm>
            <a:off x="1234440" y="4526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spec → code pipeline</a:t>
            </a:r>
            <a:endParaRPr lang="en-US" sz="1350"/>
          </a:p>
        </p:txBody>
      </p:sp>
      <p:sp>
        <p:nvSpPr>
          <p:cNvPr id="19" name="Text 17"/>
          <p:cNvSpPr/>
          <p:nvPr/>
        </p:nvSpPr>
        <p:spPr>
          <a:xfrm>
            <a:off x="1234440" y="5120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Backbone of our input flow</a:t>
            </a:r>
            <a:endParaRPr lang="en-US" sz="1350"/>
          </a:p>
        </p:txBody>
      </p:sp>
      <p:sp>
        <p:nvSpPr>
          <p:cNvPr id="20" name="Shape 18"/>
          <p:cNvSpPr/>
          <p:nvPr/>
        </p:nvSpPr>
        <p:spPr>
          <a:xfrm>
            <a:off x="6355080" y="379476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4F7FC"/>
          </a:solidFill>
          <a:ln/>
          <a:effectLst>
            <a:outerShdw blurRad="101600" dist="38100" dir="5400000" algn="bl" rotWithShape="0">
              <a:srgbClr val="9AA3B5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629400" y="4069080"/>
            <a:ext cx="146304" cy="1325880"/>
          </a:xfrm>
          <a:prstGeom prst="roundRect">
            <a:avLst>
              <a:gd name="adj" fmla="val 31250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949440" y="4050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CrewAI / AutoGen / LangGraph</a:t>
            </a:r>
            <a:endParaRPr lang="en-US" sz="1700"/>
          </a:p>
        </p:txBody>
      </p:sp>
      <p:sp>
        <p:nvSpPr>
          <p:cNvPr id="23" name="Text 21"/>
          <p:cNvSpPr/>
          <p:nvPr/>
        </p:nvSpPr>
        <p:spPr>
          <a:xfrm>
            <a:off x="6949440" y="4526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Multi-agent: planner + coder + reviewer</a:t>
            </a:r>
            <a:endParaRPr lang="en-US" sz="1350"/>
          </a:p>
        </p:txBody>
      </p:sp>
      <p:sp>
        <p:nvSpPr>
          <p:cNvPr id="24" name="Text 22"/>
          <p:cNvSpPr/>
          <p:nvPr/>
        </p:nvSpPr>
        <p:spPr>
          <a:xfrm>
            <a:off x="6949440" y="5120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Orchestration for Green Field</a:t>
            </a:r>
            <a:endParaRPr lang="en-US" sz="1350"/>
          </a:p>
        </p:txBody>
      </p:sp>
      <p:sp>
        <p:nvSpPr>
          <p:cNvPr id="25" name="Text 23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>
                <a:solidFill>
                  <a:srgbClr val="5C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agent we ask one question: what does it do better than the rest — and can we take that piece?</a:t>
            </a:r>
            <a:endParaRPr lang="en-US" sz="13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Many Agents to One Framework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3063240" y="173736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2A93B"/>
                </a:solidFill>
              </a:rPr>
              <a:t>→</a:t>
            </a:r>
            <a:endParaRPr lang="en-US" sz="220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3063240" y="27432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2A93B"/>
                </a:solidFill>
              </a:rPr>
              <a:t>→</a:t>
            </a:r>
            <a:endParaRPr lang="en-US" sz="220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3063240" y="37490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2A93B"/>
                </a:solidFill>
              </a:rPr>
              <a:t>→</a:t>
            </a:r>
            <a:endParaRPr lang="en-US" sz="2200"/>
          </a:p>
        </p:txBody>
      </p:sp>
      <p:sp>
        <p:nvSpPr>
          <p:cNvPr id="14" name="Shape 12"/>
          <p:cNvSpPr/>
          <p:nvPr/>
        </p:nvSpPr>
        <p:spPr>
          <a:xfrm>
            <a:off x="731520" y="475488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1520" y="4754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3063240" y="475488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2A93B"/>
                </a:solidFill>
              </a:rPr>
              <a:t>→</a:t>
            </a:r>
            <a:endParaRPr lang="en-US" sz="2200"/>
          </a:p>
        </p:txBody>
      </p:sp>
      <p:sp>
        <p:nvSpPr>
          <p:cNvPr id="17" name="Shape 15"/>
          <p:cNvSpPr/>
          <p:nvPr/>
        </p:nvSpPr>
        <p:spPr>
          <a:xfrm>
            <a:off x="4114800" y="2148840"/>
            <a:ext cx="3383280" cy="2651760"/>
          </a:xfrm>
          <a:prstGeom prst="roundRect">
            <a:avLst>
              <a:gd name="adj" fmla="val 482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0" y="214884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
</a:t>
            </a:r>
            <a:endParaRPr lang="en-US" sz="1500"/>
          </a:p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winning</a:t>
            </a:r>
            <a:endParaRPr lang="en-US" sz="1500"/>
          </a:p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7543800" y="310896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2A93B"/>
                </a:solidFill>
              </a:rPr>
              <a:t>→</a:t>
            </a:r>
            <a:endParaRPr lang="en-US" sz="2600"/>
          </a:p>
        </p:txBody>
      </p:sp>
      <p:sp>
        <p:nvSpPr>
          <p:cNvPr id="20" name="Shape 18"/>
          <p:cNvSpPr/>
          <p:nvPr/>
        </p:nvSpPr>
        <p:spPr>
          <a:xfrm>
            <a:off x="8321040" y="2148840"/>
            <a:ext cx="3246120" cy="2651760"/>
          </a:xfrm>
          <a:prstGeom prst="roundRect">
            <a:avLst>
              <a:gd name="adj" fmla="val 4828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321040" y="214884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
</a:t>
            </a:r>
            <a:endParaRPr lang="en-US" sz="2400"/>
          </a:p>
          <a:p>
            <a:pPr marL="0" indent="0" algn="ctr">
              <a:buNone/>
            </a:pPr>
            <a:r>
              <a:rPr lang="en-US" sz="1400">
                <a:solidFill>
                  <a:srgbClr val="D6F0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framework</a:t>
            </a:r>
            <a:endParaRPr lang="en-US" sz="2400"/>
          </a:p>
          <a:p>
            <a:pPr marL="0" indent="0" algn="ctr">
              <a:buNone/>
            </a:pPr>
            <a:r>
              <a:rPr lang="en-US" sz="1400">
                <a:solidFill>
                  <a:srgbClr val="D6F0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stronger than any</a:t>
            </a:r>
            <a:endParaRPr lang="en-US" sz="2400"/>
          </a:p>
          <a:p>
            <a:pPr marL="0" indent="0" algn="ctr">
              <a:buNone/>
            </a:pPr>
            <a:r>
              <a:rPr lang="en-US" sz="1400">
                <a:solidFill>
                  <a:srgbClr val="D6F0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agent</a:t>
            </a:r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731520" y="5120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5C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wrapper around one tool — a new framework assembled from the best parts of many.</a:t>
            </a:r>
            <a:endParaRPr lang="en-US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Architecture (Conceptual)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594360" y="2194560"/>
            <a:ext cx="2057400" cy="1645920"/>
          </a:xfrm>
          <a:prstGeom prst="roundRect">
            <a:avLst>
              <a:gd name="adj" fmla="val 5556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Layer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entry + mode selector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2651760" y="2194560"/>
            <a:ext cx="228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2A93B"/>
                </a:solidFill>
              </a:rPr>
              <a:t>→</a:t>
            </a:r>
            <a:endParaRPr lang="en-US" sz="1800"/>
          </a:p>
        </p:txBody>
      </p:sp>
      <p:sp>
        <p:nvSpPr>
          <p:cNvPr id="9" name="Shape 7"/>
          <p:cNvSpPr/>
          <p:nvPr/>
        </p:nvSpPr>
        <p:spPr>
          <a:xfrm>
            <a:off x="2880360" y="2194560"/>
            <a:ext cx="2057400" cy="1645920"/>
          </a:xfrm>
          <a:prstGeom prst="roundRect">
            <a:avLst>
              <a:gd name="adj" fmla="val 5556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971800" y="2377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 Parser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3017520" y="29718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&amp; structure the spec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4937760" y="2194560"/>
            <a:ext cx="228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2A93B"/>
                </a:solidFill>
              </a:rPr>
              <a:t>→</a:t>
            </a:r>
            <a:endParaRPr lang="en-US" sz="1800"/>
          </a:p>
        </p:txBody>
      </p:sp>
      <p:sp>
        <p:nvSpPr>
          <p:cNvPr id="13" name="Shape 11"/>
          <p:cNvSpPr/>
          <p:nvPr/>
        </p:nvSpPr>
        <p:spPr>
          <a:xfrm>
            <a:off x="5166360" y="2194560"/>
            <a:ext cx="2057400" cy="1645920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257800" y="2377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5303520" y="29718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Green vs Brown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7223760" y="2194560"/>
            <a:ext cx="228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2A93B"/>
                </a:solidFill>
              </a:rPr>
              <a:t>→</a:t>
            </a:r>
            <a:endParaRPr lang="en-US" sz="1800"/>
          </a:p>
        </p:txBody>
      </p:sp>
      <p:sp>
        <p:nvSpPr>
          <p:cNvPr id="17" name="Shape 15"/>
          <p:cNvSpPr/>
          <p:nvPr/>
        </p:nvSpPr>
        <p:spPr>
          <a:xfrm>
            <a:off x="7452360" y="2194560"/>
            <a:ext cx="2057400" cy="1645920"/>
          </a:xfrm>
          <a:prstGeom prst="roundRect">
            <a:avLst>
              <a:gd name="adj" fmla="val 5556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543800" y="2377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Code-Gen Agents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7589520" y="29718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/ modify code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9509760" y="2194560"/>
            <a:ext cx="228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2A93B"/>
                </a:solidFill>
              </a:rPr>
              <a:t>→</a:t>
            </a:r>
            <a:endParaRPr lang="en-US" sz="1800"/>
          </a:p>
        </p:txBody>
      </p:sp>
      <p:sp>
        <p:nvSpPr>
          <p:cNvPr id="21" name="Shape 19"/>
          <p:cNvSpPr/>
          <p:nvPr/>
        </p:nvSpPr>
        <p:spPr>
          <a:xfrm>
            <a:off x="9738360" y="2194560"/>
            <a:ext cx="2057400" cy="1645920"/>
          </a:xfrm>
          <a:prstGeom prst="roundRect">
            <a:avLst>
              <a:gd name="adj" fmla="val 5556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829800" y="2377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&amp; Validate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9875520" y="29718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working project</a:t>
            </a:r>
            <a:endParaRPr lang="en-US" sz="1150"/>
          </a:p>
        </p:txBody>
      </p:sp>
      <p:sp>
        <p:nvSpPr>
          <p:cNvPr id="24" name="Shape 22"/>
          <p:cNvSpPr/>
          <p:nvPr/>
        </p:nvSpPr>
        <p:spPr>
          <a:xfrm>
            <a:off x="594360" y="4297680"/>
            <a:ext cx="10927080" cy="137160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/>
          <a:effectLst>
            <a:outerShdw blurRad="101600" dist="38100" dir="5400000" algn="bl" rotWithShape="0">
              <a:srgbClr val="9AA3B5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60120" y="45262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9A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Field adds a step:  </a:t>
            </a:r>
            <a:r>
              <a:rPr lang="en-US" sz="150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existing-codebase ingestion &amp; context stage before code changes. This is a first sketch — we'll refine it as we evaluate the agents.</a:t>
            </a:r>
            <a:endParaRPr lang="en-US"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685800"/>
          </a:xfrm>
          <a:prstGeom prst="roundRect">
            <a:avLst>
              <a:gd name="adj" fmla="val 16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1508760" y="5029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Intuit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77240" cy="7772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4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40"/>
          </a:p>
        </p:txBody>
      </p:sp>
      <p:sp>
        <p:nvSpPr>
          <p:cNvPr id="7" name="Text 5"/>
          <p:cNvSpPr/>
          <p:nvPr/>
        </p:nvSpPr>
        <p:spPr>
          <a:xfrm>
            <a:off x="1920240" y="1828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revenue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desktop→online feature gap faster means faster revenue for Intuit.</a:t>
            </a:r>
            <a:endParaRPr lang="en-US" sz="1550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777240" cy="7772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4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40"/>
          </a:p>
        </p:txBody>
      </p:sp>
      <p:sp>
        <p:nvSpPr>
          <p:cNvPr id="11" name="Text 9"/>
          <p:cNvSpPr/>
          <p:nvPr/>
        </p:nvSpPr>
        <p:spPr>
          <a:xfrm>
            <a:off x="1920240" y="32004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Repeatable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5029200" y="32004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built, every new feature is cheaper and faster to deliver.</a:t>
            </a:r>
            <a:endParaRPr lang="en-US" sz="1550"/>
          </a:p>
        </p:txBody>
      </p:sp>
      <p:sp>
        <p:nvSpPr>
          <p:cNvPr id="13" name="Shape 11"/>
          <p:cNvSpPr/>
          <p:nvPr/>
        </p:nvSpPr>
        <p:spPr>
          <a:xfrm>
            <a:off x="914400" y="4572000"/>
            <a:ext cx="777240" cy="7772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4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40"/>
          </a:p>
        </p:txBody>
      </p:sp>
      <p:sp>
        <p:nvSpPr>
          <p:cNvPr id="15" name="Text 13"/>
          <p:cNvSpPr/>
          <p:nvPr/>
        </p:nvSpPr>
        <p:spPr>
          <a:xfrm>
            <a:off x="1920240" y="4572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by design</a:t>
            </a:r>
            <a:endParaRPr lang="en-US" sz="2000"/>
          </a:p>
        </p:txBody>
      </p:sp>
      <p:sp>
        <p:nvSpPr>
          <p:cNvPr id="16" name="Text 14"/>
          <p:cNvSpPr/>
          <p:nvPr/>
        </p:nvSpPr>
        <p:spPr>
          <a:xfrm>
            <a:off x="5029200" y="45720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Money-movement code stays untouched — we build around it on the new platforms.</a:t>
            </a:r>
            <a:endParaRPr lang="en-US" sz="15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/ Phases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80"/>
          </a:p>
        </p:txBody>
      </p:sp>
      <p:sp>
        <p:nvSpPr>
          <p:cNvPr id="7" name="Shape 5"/>
          <p:cNvSpPr/>
          <p:nvPr/>
        </p:nvSpPr>
        <p:spPr>
          <a:xfrm>
            <a:off x="1691640" y="1709928"/>
            <a:ext cx="9784080" cy="603504"/>
          </a:xfrm>
          <a:prstGeom prst="roundRect">
            <a:avLst>
              <a:gd name="adj" fmla="val 1212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920240" y="170992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3566160" y="17099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evaluate AI agents; pick building blocks</a:t>
            </a:r>
            <a:endParaRPr lang="en-US" sz="1450"/>
          </a:p>
        </p:txBody>
      </p:sp>
      <p:sp>
        <p:nvSpPr>
          <p:cNvPr id="10" name="Shape 8"/>
          <p:cNvSpPr/>
          <p:nvPr/>
        </p:nvSpPr>
        <p:spPr>
          <a:xfrm>
            <a:off x="822960" y="256032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80"/>
          </a:p>
        </p:txBody>
      </p:sp>
      <p:sp>
        <p:nvSpPr>
          <p:cNvPr id="12" name="Shape 10"/>
          <p:cNvSpPr/>
          <p:nvPr/>
        </p:nvSpPr>
        <p:spPr>
          <a:xfrm>
            <a:off x="1691640" y="2578608"/>
            <a:ext cx="9784080" cy="603504"/>
          </a:xfrm>
          <a:prstGeom prst="roundRect">
            <a:avLst>
              <a:gd name="adj" fmla="val 1212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920240" y="257860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3566160" y="257860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combined framework + UI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822960" y="3429000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80"/>
          </a:p>
        </p:txBody>
      </p:sp>
      <p:sp>
        <p:nvSpPr>
          <p:cNvPr id="17" name="Shape 15"/>
          <p:cNvSpPr/>
          <p:nvPr/>
        </p:nvSpPr>
        <p:spPr>
          <a:xfrm>
            <a:off x="1691640" y="3447288"/>
            <a:ext cx="9784080" cy="603504"/>
          </a:xfrm>
          <a:prstGeom prst="roundRect">
            <a:avLst>
              <a:gd name="adj" fmla="val 1212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920240" y="344728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3566160" y="344728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Green Field mode → pilot</a:t>
            </a:r>
            <a:endParaRPr lang="en-US" sz="1450"/>
          </a:p>
        </p:txBody>
      </p:sp>
      <p:sp>
        <p:nvSpPr>
          <p:cNvPr id="20" name="Shape 18"/>
          <p:cNvSpPr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296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80"/>
          </a:p>
        </p:txBody>
      </p:sp>
      <p:sp>
        <p:nvSpPr>
          <p:cNvPr id="22" name="Shape 20"/>
          <p:cNvSpPr/>
          <p:nvPr/>
        </p:nvSpPr>
        <p:spPr>
          <a:xfrm>
            <a:off x="1691640" y="4315968"/>
            <a:ext cx="9784080" cy="603504"/>
          </a:xfrm>
          <a:prstGeom prst="roundRect">
            <a:avLst>
              <a:gd name="adj" fmla="val 1212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920240" y="431596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3566160" y="431596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Brown Field mode → pilot</a:t>
            </a:r>
            <a:endParaRPr lang="en-US" sz="1450"/>
          </a:p>
        </p:txBody>
      </p:sp>
      <p:sp>
        <p:nvSpPr>
          <p:cNvPr id="25" name="Shape 23"/>
          <p:cNvSpPr/>
          <p:nvPr/>
        </p:nvSpPr>
        <p:spPr>
          <a:xfrm>
            <a:off x="822960" y="5166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2296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80"/>
          </a:p>
        </p:txBody>
      </p:sp>
      <p:sp>
        <p:nvSpPr>
          <p:cNvPr id="27" name="Shape 25"/>
          <p:cNvSpPr/>
          <p:nvPr/>
        </p:nvSpPr>
        <p:spPr>
          <a:xfrm>
            <a:off x="1691640" y="5184648"/>
            <a:ext cx="9784080" cy="603504"/>
          </a:xfrm>
          <a:prstGeom prst="roundRect">
            <a:avLst>
              <a:gd name="adj" fmla="val 1212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920240" y="518464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5</a:t>
            </a:r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3566160" y="518464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— testing, guardrails, scale</a:t>
            </a:r>
            <a:endParaRPr lang="en-US" sz="14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9A6B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9A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Open Questions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/>
          <a:effectLst>
            <a:outerShdw blurRad="101600" dist="38100" dir="5400000" algn="bl" rotWithShape="0">
              <a:srgbClr val="9AA3B5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60120" y="2011680"/>
            <a:ext cx="594360" cy="594360"/>
          </a:xfrm>
          <a:prstGeom prst="ellipse">
            <a:avLst/>
          </a:prstGeom>
          <a:solidFill>
            <a:srgbClr val="9A6B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012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60"/>
          </a:p>
        </p:txBody>
      </p:sp>
      <p:sp>
        <p:nvSpPr>
          <p:cNvPr id="8" name="Text 6"/>
          <p:cNvSpPr/>
          <p:nvPr/>
        </p:nvSpPr>
        <p:spPr>
          <a:xfrm>
            <a:off x="1737360" y="1965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9A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700"/>
          </a:p>
        </p:txBody>
      </p:sp>
      <p:sp>
        <p:nvSpPr>
          <p:cNvPr id="9" name="Text 7"/>
          <p:cNvSpPr/>
          <p:nvPr/>
        </p:nvSpPr>
        <p:spPr>
          <a:xfrm>
            <a:off x="1005840" y="26974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generated code — especially brown-field regressions.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/>
          <a:effectLst>
            <a:outerShdw blurRad="101600" dist="38100" dir="5400000" algn="bl" rotWithShape="0">
              <a:srgbClr val="9AA3B5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675120" y="2011680"/>
            <a:ext cx="594360" cy="594360"/>
          </a:xfrm>
          <a:prstGeom prst="ellipse">
            <a:avLst/>
          </a:prstGeom>
          <a:solidFill>
            <a:srgbClr val="9A6B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67512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60"/>
          </a:p>
        </p:txBody>
      </p:sp>
      <p:sp>
        <p:nvSpPr>
          <p:cNvPr id="13" name="Text 11"/>
          <p:cNvSpPr/>
          <p:nvPr/>
        </p:nvSpPr>
        <p:spPr>
          <a:xfrm>
            <a:off x="7452360" y="1965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9A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700"/>
          </a:p>
        </p:txBody>
      </p:sp>
      <p:sp>
        <p:nvSpPr>
          <p:cNvPr id="14" name="Text 12"/>
          <p:cNvSpPr/>
          <p:nvPr/>
        </p:nvSpPr>
        <p:spPr>
          <a:xfrm>
            <a:off x="6720840" y="26974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review &amp; approval stays with people?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/>
          <a:effectLst>
            <a:outerShdw blurRad="101600" dist="38100" dir="5400000" algn="bl" rotWithShape="0">
              <a:srgbClr val="9AA3B5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60120" y="4114800"/>
            <a:ext cx="594360" cy="594360"/>
          </a:xfrm>
          <a:prstGeom prst="ellipse">
            <a:avLst/>
          </a:prstGeom>
          <a:solidFill>
            <a:srgbClr val="9A6B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60120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60"/>
          </a:p>
        </p:txBody>
      </p:sp>
      <p:sp>
        <p:nvSpPr>
          <p:cNvPr id="18" name="Text 16"/>
          <p:cNvSpPr/>
          <p:nvPr/>
        </p:nvSpPr>
        <p:spPr>
          <a:xfrm>
            <a:off x="1737360" y="4069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9A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Ambiguous specs</a:t>
            </a:r>
            <a:endParaRPr lang="en-US" sz="1700"/>
          </a:p>
        </p:txBody>
      </p:sp>
      <p:sp>
        <p:nvSpPr>
          <p:cNvPr id="19" name="Text 17"/>
          <p:cNvSpPr/>
          <p:nvPr/>
        </p:nvSpPr>
        <p:spPr>
          <a:xfrm>
            <a:off x="1005840" y="48006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incomplete or unclear requirements.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6355080" y="37947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/>
          <a:effectLst>
            <a:outerShdw blurRad="101600" dist="38100" dir="5400000" algn="bl" rotWithShape="0">
              <a:srgbClr val="9AA3B5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675120" y="4114800"/>
            <a:ext cx="594360" cy="594360"/>
          </a:xfrm>
          <a:prstGeom prst="ellipse">
            <a:avLst/>
          </a:prstGeom>
          <a:solidFill>
            <a:srgbClr val="9A6B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675120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60"/>
          </a:p>
        </p:txBody>
      </p:sp>
      <p:sp>
        <p:nvSpPr>
          <p:cNvPr id="23" name="Text 21"/>
          <p:cNvSpPr/>
          <p:nvPr/>
        </p:nvSpPr>
        <p:spPr>
          <a:xfrm>
            <a:off x="7452360" y="4069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9A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Money-movement guardrails</a:t>
            </a:r>
            <a:endParaRPr lang="en-US" sz="1700"/>
          </a:p>
        </p:txBody>
      </p:sp>
      <p:sp>
        <p:nvSpPr>
          <p:cNvPr id="24" name="Text 22"/>
          <p:cNvSpPr/>
          <p:nvPr/>
        </p:nvSpPr>
        <p:spPr>
          <a:xfrm>
            <a:off x="6720840" y="48006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guardrails for anything near financial logic.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>
                <a:solidFill>
                  <a:srgbClr val="5C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these upfront so we design for them — not around them.</a:t>
            </a:r>
            <a:endParaRPr lang="en-US" sz="13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7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347472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  /  Next Steps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1C23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80"/>
          </a:p>
        </p:txBody>
      </p:sp>
      <p:sp>
        <p:nvSpPr>
          <p:cNvPr id="7" name="Text 5"/>
          <p:cNvSpPr/>
          <p:nvPr/>
        </p:nvSpPr>
        <p:spPr>
          <a:xfrm>
            <a:off x="1920240" y="21762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roles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1920240" y="26334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who owns what.</a:t>
            </a:r>
            <a:endParaRPr lang="en-US" sz="1350"/>
          </a:p>
        </p:txBody>
      </p:sp>
      <p:sp>
        <p:nvSpPr>
          <p:cNvPr id="9" name="Shape 7"/>
          <p:cNvSpPr/>
          <p:nvPr/>
        </p:nvSpPr>
        <p:spPr>
          <a:xfrm>
            <a:off x="6492240" y="192024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1C23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766560" y="228600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7665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80"/>
          </a:p>
        </p:txBody>
      </p:sp>
      <p:sp>
        <p:nvSpPr>
          <p:cNvPr id="12" name="Text 10"/>
          <p:cNvSpPr/>
          <p:nvPr/>
        </p:nvSpPr>
        <p:spPr>
          <a:xfrm>
            <a:off x="7589520" y="21762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 off Phase 1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7589520" y="26334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AI-agent evaluation.</a:t>
            </a:r>
            <a:endParaRPr lang="en-US" sz="1350"/>
          </a:p>
        </p:txBody>
      </p:sp>
      <p:sp>
        <p:nvSpPr>
          <p:cNvPr id="14" name="Shape 12"/>
          <p:cNvSpPr/>
          <p:nvPr/>
        </p:nvSpPr>
        <p:spPr>
          <a:xfrm>
            <a:off x="822960" y="356616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1C23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97280" y="393192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9728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80"/>
          </a:p>
        </p:txBody>
      </p:sp>
      <p:sp>
        <p:nvSpPr>
          <p:cNvPr id="17" name="Text 15"/>
          <p:cNvSpPr/>
          <p:nvPr/>
        </p:nvSpPr>
        <p:spPr>
          <a:xfrm>
            <a:off x="1920240" y="38221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pilot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1920240" y="42793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one real feature to rebuild first.</a:t>
            </a:r>
            <a:endParaRPr lang="en-US" sz="1350"/>
          </a:p>
        </p:txBody>
      </p:sp>
      <p:sp>
        <p:nvSpPr>
          <p:cNvPr id="19" name="Shape 17"/>
          <p:cNvSpPr/>
          <p:nvPr/>
        </p:nvSpPr>
        <p:spPr>
          <a:xfrm>
            <a:off x="6492240" y="356616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1C23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766560" y="393192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76656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80"/>
          </a:p>
        </p:txBody>
      </p:sp>
      <p:sp>
        <p:nvSpPr>
          <p:cNvPr id="22" name="Text 20"/>
          <p:cNvSpPr/>
          <p:nvPr/>
        </p:nvSpPr>
        <p:spPr>
          <a:xfrm>
            <a:off x="7589520" y="38221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1800"/>
          </a:p>
        </p:txBody>
      </p:sp>
      <p:sp>
        <p:nvSpPr>
          <p:cNvPr id="23" name="Text 21"/>
          <p:cNvSpPr/>
          <p:nvPr/>
        </p:nvSpPr>
        <p:spPr>
          <a:xfrm>
            <a:off x="7589520" y="42793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ideas, concerns — let's talk.</a:t>
            </a:r>
            <a:endParaRPr lang="en-US" sz="1350"/>
          </a:p>
        </p:txBody>
      </p:sp>
      <p:sp>
        <p:nvSpPr>
          <p:cNvPr id="24" name="Text 22"/>
          <p:cNvSpPr/>
          <p:nvPr/>
        </p:nvSpPr>
        <p:spPr>
          <a:xfrm>
            <a:off x="822960" y="5943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>
                <a:solidFill>
                  <a:srgbClr val="8A93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2026-08-06T11:36:34Z</dcterms:created>
  <dcterms:modified xsi:type="dcterms:W3CDTF">2026-08-10T05:08:13Z</dcterms:modified>
</cp:coreProperties>
</file>